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8" autoAdjust="0"/>
    <p:restoredTop sz="94660"/>
  </p:normalViewPr>
  <p:slideViewPr>
    <p:cSldViewPr snapToGrid="0">
      <p:cViewPr varScale="1">
        <p:scale>
          <a:sx n="97" d="100"/>
          <a:sy n="97" d="100"/>
        </p:scale>
        <p:origin x="2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2A932E-8120-CB6D-CAFF-AD30D1745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95D931E-87C4-AEFC-A712-9D842BD46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3CCA32-A7AF-BC15-5803-4E0C9521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2756EAC-A006-E240-208B-9596913E4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FDA9B8-F180-8539-9472-294C2646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484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E4C140-492D-F384-7303-D50AA4902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8E4B6AE-C042-9E0F-46EB-63219E897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6F9AC-C2E8-ED2E-7856-42669A05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FCA7784-8B86-B6CD-285C-EC985EB0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3986982-5135-DFCF-CFDE-42EA803F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267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9F95FA-74A7-2737-7510-2135E959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4659954-2FF8-44D4-EF94-3DFDD06C8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B94CC2-6617-64D0-5123-49DCB9CF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ACE7C8-3D74-F524-AFF5-06D91AB6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44C3635-46D9-3F01-17BB-ED456376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431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5FBB94-756D-9B99-109C-27F7D996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D72304-0D46-ED09-1723-C216CE467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B06B614-927A-C8B5-1AA6-90C5AAEF6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1DDE843-E94D-195A-92EE-72F9177F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E665645-B4EC-A0FD-1A37-7558F67A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F127A74-5078-F416-6647-AAA16B16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870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961E30-1441-62A5-DF60-2242B11B7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13CE3D0-AF3D-52DF-1112-234C61377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2B00479-8975-0910-51F4-4DB7B7D6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C4BB087-3346-D4E4-86AB-54273A26D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CC4687A-7DAD-DEC3-6D8F-214B0BE28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01FC1D9-DE56-737E-7A28-AD1981C2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8E38D6-B0E4-F9DB-BF2E-0DB64042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28B840E-FEB0-F343-D77E-4D5C476D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64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3C1619-AE03-1FAB-E501-33E7CC44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43A6C2A-B98D-EB80-B544-67AC0A04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37DC5EA-983F-2AC8-ABC4-762DDAC4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C5E7971-E817-1E02-0AB9-28A9DE7E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099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8D1C04E-5D55-4623-0D41-AE8C1F7E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F94F49B-FA10-B832-57B6-43817FC4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9C3FC73-6324-05E5-4848-6E8C55B6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043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B7BD50-CE92-B03D-8ED4-6176327E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B46287-C0AA-7762-B627-77A86E7CD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070A2C3-96C0-E872-3AB1-C51AA7178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7088A6B-5552-4EEA-FE99-25BA5BAC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8957526-64E7-D401-C4E0-6714160E3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0C64F8E-9FCD-73C0-346D-754FC34D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307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4861E1-54CD-29FB-9BC6-652873F6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39E6269-5526-E40A-10C2-0887769FC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88FA2D8-BAC0-D387-A51C-9C65E1B91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606CF1C-3198-1D9A-9987-6EDBF43F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EC4455-B1DB-9573-5EDC-63B8A038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05B4262-F207-9130-9EF0-36C43A74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903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C9FF3B-7E4D-80A7-3E01-A75DAA9C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5FC0473-DC3E-7A98-1240-3B7313016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B88672-9630-5E6E-A16D-A3E629796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9F02393-C245-F1F9-23E7-3A41FA6A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087C3A6-F8D7-BB58-C231-D96B7334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690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0C080E3-70A2-174B-5FA7-88F933D91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A4C7939-D663-2250-BD6D-4C928EFB3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F4D3D9-DE87-C2D4-8CAD-7F1E5601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F11E4F4-B216-AB45-CC04-8384BBAA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1C3EA3-BE39-6F6C-1411-40A38C3A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294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8469C06-6040-CD07-EF8A-466D8879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2A4D2DD-6963-C74F-2C32-0BE740B31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A61BC64-0B53-1083-C7FF-8EE0CF826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D51B8-3E32-44FB-B170-7CA2EA1C1960}" type="datetimeFigureOut">
              <a:rPr lang="hu-HU" smtClean="0"/>
              <a:t>2025. 12. 23.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2ED4F8-416F-8378-24E3-08B59AE4E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61B3A4D-2967-03CD-3366-AE9AB601B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00593-031C-48D3-8B86-216C98237D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68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D1975A-DC51-59E4-9704-CFF2584F22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C++ </a:t>
            </a:r>
            <a:r>
              <a:rPr lang="hu-HU" b="1" dirty="0" err="1"/>
              <a:t>pointers</a:t>
            </a:r>
            <a:r>
              <a:rPr lang="hu-HU" b="1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base</a:t>
            </a:r>
            <a:r>
              <a:rPr lang="hu-HU" dirty="0"/>
              <a:t> and </a:t>
            </a:r>
            <a:r>
              <a:rPr lang="hu-HU" dirty="0" err="1"/>
              <a:t>derived</a:t>
            </a:r>
            <a:r>
              <a:rPr lang="hu-HU" dirty="0"/>
              <a:t> </a:t>
            </a:r>
            <a:r>
              <a:rPr lang="hu-HU" dirty="0" err="1"/>
              <a:t>classes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50BA671-0645-E56B-4C09-EC3866FF54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738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0B1AD58-6338-4FAA-9711-72956C20080E}"/>
              </a:ext>
            </a:extLst>
          </p:cNvPr>
          <p:cNvSpPr/>
          <p:nvPr/>
        </p:nvSpPr>
        <p:spPr>
          <a:xfrm>
            <a:off x="4572000" y="825910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D8779F06-DFC9-A2BA-F566-31C8E8D98A30}"/>
              </a:ext>
            </a:extLst>
          </p:cNvPr>
          <p:cNvSpPr/>
          <p:nvPr/>
        </p:nvSpPr>
        <p:spPr>
          <a:xfrm>
            <a:off x="1548581" y="3429000"/>
            <a:ext cx="1469921" cy="86523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Base</a:t>
            </a:r>
            <a:r>
              <a:rPr lang="hu-HU" b="1" dirty="0"/>
              <a:t> *</a:t>
            </a:r>
          </a:p>
        </p:txBody>
      </p:sp>
      <p:cxnSp>
        <p:nvCxnSpPr>
          <p:cNvPr id="7" name="Összekötő: görbe 6">
            <a:extLst>
              <a:ext uri="{FF2B5EF4-FFF2-40B4-BE49-F238E27FC236}">
                <a16:creationId xmlns:a16="http://schemas.microsoft.com/office/drawing/2014/main" id="{55C4CB4A-E716-42EF-613C-0CE4A566B3EC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3018502" y="1258529"/>
            <a:ext cx="1553498" cy="2603090"/>
          </a:xfrm>
          <a:prstGeom prst="curvedConnector3">
            <a:avLst>
              <a:gd name="adj1" fmla="val 50000"/>
            </a:avLst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30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2ACB-DB22-E671-D6BF-147119997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83D35960-59D6-285F-1ECE-17C834C9D89F}"/>
              </a:ext>
            </a:extLst>
          </p:cNvPr>
          <p:cNvSpPr/>
          <p:nvPr/>
        </p:nvSpPr>
        <p:spPr>
          <a:xfrm>
            <a:off x="4571999" y="762000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Derived_A</a:t>
            </a:r>
            <a:endParaRPr lang="hu-HU" b="1" dirty="0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6A4F4892-8730-938A-1432-F4FD1A0335BA}"/>
              </a:ext>
            </a:extLst>
          </p:cNvPr>
          <p:cNvSpPr/>
          <p:nvPr/>
        </p:nvSpPr>
        <p:spPr>
          <a:xfrm>
            <a:off x="4572000" y="825910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6BCA7B7-82CC-D08A-E2F0-3E8E11614471}"/>
              </a:ext>
            </a:extLst>
          </p:cNvPr>
          <p:cNvSpPr/>
          <p:nvPr/>
        </p:nvSpPr>
        <p:spPr>
          <a:xfrm>
            <a:off x="1548581" y="3429000"/>
            <a:ext cx="1469921" cy="86523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Base</a:t>
            </a:r>
            <a:r>
              <a:rPr lang="hu-HU" b="1" dirty="0"/>
              <a:t> *</a:t>
            </a:r>
          </a:p>
        </p:txBody>
      </p:sp>
      <p:cxnSp>
        <p:nvCxnSpPr>
          <p:cNvPr id="7" name="Összekötő: görbe 6">
            <a:extLst>
              <a:ext uri="{FF2B5EF4-FFF2-40B4-BE49-F238E27FC236}">
                <a16:creationId xmlns:a16="http://schemas.microsoft.com/office/drawing/2014/main" id="{D62F988A-2CBC-BD30-70AE-982A48BF937C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3018502" y="1258529"/>
            <a:ext cx="1553498" cy="26030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églalap 3">
            <a:extLst>
              <a:ext uri="{FF2B5EF4-FFF2-40B4-BE49-F238E27FC236}">
                <a16:creationId xmlns:a16="http://schemas.microsoft.com/office/drawing/2014/main" id="{4F1BFC4C-EC4F-041E-1D5F-3F75D62DB16F}"/>
              </a:ext>
            </a:extLst>
          </p:cNvPr>
          <p:cNvSpPr/>
          <p:nvPr/>
        </p:nvSpPr>
        <p:spPr>
          <a:xfrm>
            <a:off x="4571999" y="2435942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Derived_B</a:t>
            </a:r>
            <a:endParaRPr lang="hu-HU" b="1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8703D437-651D-43FF-2B39-7F66C8C3C9E9}"/>
              </a:ext>
            </a:extLst>
          </p:cNvPr>
          <p:cNvSpPr/>
          <p:nvPr/>
        </p:nvSpPr>
        <p:spPr>
          <a:xfrm>
            <a:off x="4572000" y="2499852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65EDABAE-CCA3-84FF-3539-C04AD3664858}"/>
              </a:ext>
            </a:extLst>
          </p:cNvPr>
          <p:cNvSpPr/>
          <p:nvPr/>
        </p:nvSpPr>
        <p:spPr>
          <a:xfrm>
            <a:off x="4571999" y="4294238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Derived_C</a:t>
            </a:r>
            <a:endParaRPr lang="hu-HU" b="1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9F756743-FF68-FB74-E315-798B4030E4B1}"/>
              </a:ext>
            </a:extLst>
          </p:cNvPr>
          <p:cNvSpPr/>
          <p:nvPr/>
        </p:nvSpPr>
        <p:spPr>
          <a:xfrm>
            <a:off x="4572000" y="4358148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cxnSp>
        <p:nvCxnSpPr>
          <p:cNvPr id="10" name="Összekötő: görbe 9">
            <a:extLst>
              <a:ext uri="{FF2B5EF4-FFF2-40B4-BE49-F238E27FC236}">
                <a16:creationId xmlns:a16="http://schemas.microsoft.com/office/drawing/2014/main" id="{6C863B71-B985-0AAA-4AC9-D0C18F4A90C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018502" y="2932471"/>
            <a:ext cx="1553498" cy="9291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Összekötő: görbe 12">
            <a:extLst>
              <a:ext uri="{FF2B5EF4-FFF2-40B4-BE49-F238E27FC236}">
                <a16:creationId xmlns:a16="http://schemas.microsoft.com/office/drawing/2014/main" id="{513A248F-FE4F-2397-6A69-A42DDE2820B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018502" y="3861619"/>
            <a:ext cx="1553498" cy="9291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49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E200-CD85-0089-FDE7-C57229F4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8317D13E-A935-06DC-FA94-6023AFB50BED}"/>
              </a:ext>
            </a:extLst>
          </p:cNvPr>
          <p:cNvSpPr/>
          <p:nvPr/>
        </p:nvSpPr>
        <p:spPr>
          <a:xfrm>
            <a:off x="4571999" y="762000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Derived_A</a:t>
            </a:r>
            <a:endParaRPr lang="hu-HU" b="1" dirty="0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9F6DCD54-5329-6CEA-D6C8-767A80415C52}"/>
              </a:ext>
            </a:extLst>
          </p:cNvPr>
          <p:cNvSpPr/>
          <p:nvPr/>
        </p:nvSpPr>
        <p:spPr>
          <a:xfrm>
            <a:off x="4572000" y="825910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1536E8D8-6850-CE1C-0E66-E76F16258CDC}"/>
              </a:ext>
            </a:extLst>
          </p:cNvPr>
          <p:cNvSpPr/>
          <p:nvPr/>
        </p:nvSpPr>
        <p:spPr>
          <a:xfrm>
            <a:off x="1548581" y="3429000"/>
            <a:ext cx="1469921" cy="86523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Base</a:t>
            </a:r>
            <a:r>
              <a:rPr lang="hu-HU" b="1" dirty="0"/>
              <a:t> *</a:t>
            </a:r>
          </a:p>
        </p:txBody>
      </p:sp>
      <p:cxnSp>
        <p:nvCxnSpPr>
          <p:cNvPr id="7" name="Összekötő: görbe 6">
            <a:extLst>
              <a:ext uri="{FF2B5EF4-FFF2-40B4-BE49-F238E27FC236}">
                <a16:creationId xmlns:a16="http://schemas.microsoft.com/office/drawing/2014/main" id="{4D2FC171-5D3C-2560-E510-6A134BDF8339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3018502" y="1258529"/>
            <a:ext cx="1553498" cy="26030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églalap 3">
            <a:extLst>
              <a:ext uri="{FF2B5EF4-FFF2-40B4-BE49-F238E27FC236}">
                <a16:creationId xmlns:a16="http://schemas.microsoft.com/office/drawing/2014/main" id="{18A364AC-4E19-7063-ABB4-88A90AB6CDB3}"/>
              </a:ext>
            </a:extLst>
          </p:cNvPr>
          <p:cNvSpPr/>
          <p:nvPr/>
        </p:nvSpPr>
        <p:spPr>
          <a:xfrm>
            <a:off x="4571999" y="2435942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Derived_B</a:t>
            </a:r>
            <a:endParaRPr lang="hu-HU" b="1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1562AD38-A33C-BC30-6CC9-9C30FACA2742}"/>
              </a:ext>
            </a:extLst>
          </p:cNvPr>
          <p:cNvSpPr/>
          <p:nvPr/>
        </p:nvSpPr>
        <p:spPr>
          <a:xfrm>
            <a:off x="4572000" y="2499852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97FCC35E-9804-428F-6D2B-D25F3F5DCCD1}"/>
              </a:ext>
            </a:extLst>
          </p:cNvPr>
          <p:cNvSpPr/>
          <p:nvPr/>
        </p:nvSpPr>
        <p:spPr>
          <a:xfrm>
            <a:off x="4571999" y="4294238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Derived_C</a:t>
            </a:r>
            <a:endParaRPr lang="hu-HU" b="1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7EC006A1-E67B-E90C-0F51-FA943115C141}"/>
              </a:ext>
            </a:extLst>
          </p:cNvPr>
          <p:cNvSpPr/>
          <p:nvPr/>
        </p:nvSpPr>
        <p:spPr>
          <a:xfrm>
            <a:off x="4572000" y="4358148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cxnSp>
        <p:nvCxnSpPr>
          <p:cNvPr id="10" name="Összekötő: görbe 9">
            <a:extLst>
              <a:ext uri="{FF2B5EF4-FFF2-40B4-BE49-F238E27FC236}">
                <a16:creationId xmlns:a16="http://schemas.microsoft.com/office/drawing/2014/main" id="{69EC0D6A-AD49-A9FE-812B-DF87E799960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018502" y="2932471"/>
            <a:ext cx="1553498" cy="9291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Összekötő: görbe 12">
            <a:extLst>
              <a:ext uri="{FF2B5EF4-FFF2-40B4-BE49-F238E27FC236}">
                <a16:creationId xmlns:a16="http://schemas.microsoft.com/office/drawing/2014/main" id="{4CA7EDC6-B057-5923-1B08-520A77518D5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018502" y="3861619"/>
            <a:ext cx="1553498" cy="9291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églalap 10">
            <a:extLst>
              <a:ext uri="{FF2B5EF4-FFF2-40B4-BE49-F238E27FC236}">
                <a16:creationId xmlns:a16="http://schemas.microsoft.com/office/drawing/2014/main" id="{329F95D3-281B-8080-E7E9-A8554EF8A62E}"/>
              </a:ext>
            </a:extLst>
          </p:cNvPr>
          <p:cNvSpPr/>
          <p:nvPr/>
        </p:nvSpPr>
        <p:spPr>
          <a:xfrm>
            <a:off x="565355" y="329381"/>
            <a:ext cx="2113935" cy="4965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1E58DCDC-4C7C-1157-595C-515DAB8688B2}"/>
              </a:ext>
            </a:extLst>
          </p:cNvPr>
          <p:cNvSpPr/>
          <p:nvPr/>
        </p:nvSpPr>
        <p:spPr>
          <a:xfrm>
            <a:off x="565355" y="825910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hu-HU" sz="1400" b="1" dirty="0" err="1"/>
              <a:t>string</a:t>
            </a:r>
            <a:r>
              <a:rPr lang="hu-HU" sz="1400" b="1" dirty="0"/>
              <a:t> </a:t>
            </a:r>
            <a:r>
              <a:rPr lang="hu-HU" sz="1400" b="1" dirty="0" err="1"/>
              <a:t>type</a:t>
            </a:r>
            <a:endParaRPr lang="hu-HU" sz="1400" b="1" dirty="0"/>
          </a:p>
          <a:p>
            <a:pPr marL="285750" indent="-285750">
              <a:buFontTx/>
              <a:buChar char="-"/>
            </a:pPr>
            <a:r>
              <a:rPr lang="hu-HU" sz="1400" b="1" dirty="0" err="1"/>
              <a:t>string</a:t>
            </a:r>
            <a:r>
              <a:rPr lang="hu-HU" sz="1400" b="1" dirty="0"/>
              <a:t> </a:t>
            </a:r>
            <a:r>
              <a:rPr lang="hu-HU" sz="1400" b="1" dirty="0" err="1"/>
              <a:t>getArea</a:t>
            </a:r>
            <a:r>
              <a:rPr lang="hu-HU" sz="1400" b="1" dirty="0"/>
              <a:t>()</a:t>
            </a:r>
          </a:p>
          <a:p>
            <a:pPr marL="285750" indent="-285750">
              <a:buFontTx/>
              <a:buChar char="-"/>
            </a:pPr>
            <a:r>
              <a:rPr lang="hu-HU" sz="1400" b="1" dirty="0"/>
              <a:t>…</a:t>
            </a:r>
          </a:p>
        </p:txBody>
      </p:sp>
      <p:sp>
        <p:nvSpPr>
          <p:cNvPr id="14" name="Nyíl: balra mutató 13">
            <a:extLst>
              <a:ext uri="{FF2B5EF4-FFF2-40B4-BE49-F238E27FC236}">
                <a16:creationId xmlns:a16="http://schemas.microsoft.com/office/drawing/2014/main" id="{51FBA6FB-FB26-6B9A-81BA-C364F0AB1625}"/>
              </a:ext>
            </a:extLst>
          </p:cNvPr>
          <p:cNvSpPr/>
          <p:nvPr/>
        </p:nvSpPr>
        <p:spPr>
          <a:xfrm rot="19132100">
            <a:off x="1760859" y="646471"/>
            <a:ext cx="675968" cy="235974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9E09F966-25D1-3F8C-C51D-C00EC3A5E781}"/>
              </a:ext>
            </a:extLst>
          </p:cNvPr>
          <p:cNvSpPr/>
          <p:nvPr/>
        </p:nvSpPr>
        <p:spPr>
          <a:xfrm>
            <a:off x="1074174" y="5302042"/>
            <a:ext cx="1828798" cy="8652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Derived</a:t>
            </a:r>
            <a:r>
              <a:rPr lang="hu-HU" b="1" dirty="0"/>
              <a:t>_(?) *</a:t>
            </a:r>
          </a:p>
        </p:txBody>
      </p:sp>
      <p:sp>
        <p:nvSpPr>
          <p:cNvPr id="17" name="Nyíl: szaggatott, jobbra mutató 16">
            <a:extLst>
              <a:ext uri="{FF2B5EF4-FFF2-40B4-BE49-F238E27FC236}">
                <a16:creationId xmlns:a16="http://schemas.microsoft.com/office/drawing/2014/main" id="{533578DA-7868-3ADB-2D65-6000C8444795}"/>
              </a:ext>
            </a:extLst>
          </p:cNvPr>
          <p:cNvSpPr/>
          <p:nvPr/>
        </p:nvSpPr>
        <p:spPr>
          <a:xfrm rot="5400000">
            <a:off x="1998405" y="4643284"/>
            <a:ext cx="865238" cy="294966"/>
          </a:xfrm>
          <a:prstGeom prst="strip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Beszédbuborék: lekerekített sarkú téglalap 17">
            <a:extLst>
              <a:ext uri="{FF2B5EF4-FFF2-40B4-BE49-F238E27FC236}">
                <a16:creationId xmlns:a16="http://schemas.microsoft.com/office/drawing/2014/main" id="{6E28B7F7-49D3-4E47-CDCB-536D6582556A}"/>
              </a:ext>
            </a:extLst>
          </p:cNvPr>
          <p:cNvSpPr/>
          <p:nvPr/>
        </p:nvSpPr>
        <p:spPr>
          <a:xfrm>
            <a:off x="3404416" y="3581399"/>
            <a:ext cx="2637505" cy="560439"/>
          </a:xfrm>
          <a:prstGeom prst="wedgeRoundRectCallout">
            <a:avLst>
              <a:gd name="adj1" fmla="val -85670"/>
              <a:gd name="adj2" fmla="val 183551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dynamic_cast</a:t>
            </a:r>
            <a:r>
              <a:rPr lang="hu-HU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hu-HU" b="1" dirty="0" err="1">
                <a:highlight>
                  <a:srgbClr val="0000FF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hu-HU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19" name="Nyíl: balra mutató 18">
            <a:extLst>
              <a:ext uri="{FF2B5EF4-FFF2-40B4-BE49-F238E27FC236}">
                <a16:creationId xmlns:a16="http://schemas.microsoft.com/office/drawing/2014/main" id="{FD7C6AC4-EBA7-6930-0B95-0A1D173CDE9F}"/>
              </a:ext>
            </a:extLst>
          </p:cNvPr>
          <p:cNvSpPr/>
          <p:nvPr/>
        </p:nvSpPr>
        <p:spPr>
          <a:xfrm rot="13766111">
            <a:off x="4789543" y="3323303"/>
            <a:ext cx="675968" cy="235974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682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8BD0-2226-FAD3-DF91-55AFDFF6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Összekötő: görbe 23">
            <a:extLst>
              <a:ext uri="{FF2B5EF4-FFF2-40B4-BE49-F238E27FC236}">
                <a16:creationId xmlns:a16="http://schemas.microsoft.com/office/drawing/2014/main" id="{C8136084-87FF-A4EC-D787-55D8731FA4E6}"/>
              </a:ext>
            </a:extLst>
          </p:cNvPr>
          <p:cNvCxnSpPr>
            <a:cxnSpLocks/>
            <a:stCxn id="22" idx="3"/>
            <a:endCxn id="4" idx="2"/>
          </p:cNvCxnSpPr>
          <p:nvPr/>
        </p:nvCxnSpPr>
        <p:spPr>
          <a:xfrm flipV="1">
            <a:off x="5139811" y="3429000"/>
            <a:ext cx="2376950" cy="2777608"/>
          </a:xfrm>
          <a:prstGeom prst="curvedConnector2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Összekötő: görbe 15">
            <a:extLst>
              <a:ext uri="{FF2B5EF4-FFF2-40B4-BE49-F238E27FC236}">
                <a16:creationId xmlns:a16="http://schemas.microsoft.com/office/drawing/2014/main" id="{FC780E26-5BE9-EA0B-D309-C6F53AB0A1DA}"/>
              </a:ext>
            </a:extLst>
          </p:cNvPr>
          <p:cNvCxnSpPr>
            <a:cxnSpLocks/>
            <a:stCxn id="15" idx="3"/>
            <a:endCxn id="3" idx="2"/>
          </p:cNvCxnSpPr>
          <p:nvPr/>
        </p:nvCxnSpPr>
        <p:spPr>
          <a:xfrm flipV="1">
            <a:off x="2902972" y="1755058"/>
            <a:ext cx="4613789" cy="3979603"/>
          </a:xfrm>
          <a:prstGeom prst="curvedConnector2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églalap 2">
            <a:extLst>
              <a:ext uri="{FF2B5EF4-FFF2-40B4-BE49-F238E27FC236}">
                <a16:creationId xmlns:a16="http://schemas.microsoft.com/office/drawing/2014/main" id="{845E0065-BCAC-618C-0711-4A6CF3AB9369}"/>
              </a:ext>
            </a:extLst>
          </p:cNvPr>
          <p:cNvSpPr/>
          <p:nvPr/>
        </p:nvSpPr>
        <p:spPr>
          <a:xfrm>
            <a:off x="4571999" y="762000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Derived_A</a:t>
            </a:r>
            <a:endParaRPr lang="hu-HU" b="1" dirty="0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EDD89CF-5A72-B56D-EE42-CDFD1680BBE5}"/>
              </a:ext>
            </a:extLst>
          </p:cNvPr>
          <p:cNvSpPr/>
          <p:nvPr/>
        </p:nvSpPr>
        <p:spPr>
          <a:xfrm>
            <a:off x="4572000" y="825910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E51B6AAE-27F2-AA8A-2DC2-15080CD0D518}"/>
              </a:ext>
            </a:extLst>
          </p:cNvPr>
          <p:cNvSpPr/>
          <p:nvPr/>
        </p:nvSpPr>
        <p:spPr>
          <a:xfrm>
            <a:off x="1548581" y="3429000"/>
            <a:ext cx="1469921" cy="86523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Base</a:t>
            </a:r>
            <a:r>
              <a:rPr lang="hu-HU" b="1" dirty="0"/>
              <a:t> *</a:t>
            </a:r>
          </a:p>
        </p:txBody>
      </p:sp>
      <p:cxnSp>
        <p:nvCxnSpPr>
          <p:cNvPr id="7" name="Összekötő: görbe 6">
            <a:extLst>
              <a:ext uri="{FF2B5EF4-FFF2-40B4-BE49-F238E27FC236}">
                <a16:creationId xmlns:a16="http://schemas.microsoft.com/office/drawing/2014/main" id="{BB9AD076-1E75-39DE-AA4E-70ECB9B79A85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3018502" y="1258529"/>
            <a:ext cx="1553498" cy="26030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églalap 3">
            <a:extLst>
              <a:ext uri="{FF2B5EF4-FFF2-40B4-BE49-F238E27FC236}">
                <a16:creationId xmlns:a16="http://schemas.microsoft.com/office/drawing/2014/main" id="{9889AD59-15EA-7AEB-C063-C12432142CD7}"/>
              </a:ext>
            </a:extLst>
          </p:cNvPr>
          <p:cNvSpPr/>
          <p:nvPr/>
        </p:nvSpPr>
        <p:spPr>
          <a:xfrm>
            <a:off x="4571999" y="2435942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Derived_B</a:t>
            </a:r>
            <a:endParaRPr lang="hu-HU" b="1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9A49E2F-AF8F-EF18-3E52-6439C165EB62}"/>
              </a:ext>
            </a:extLst>
          </p:cNvPr>
          <p:cNvSpPr/>
          <p:nvPr/>
        </p:nvSpPr>
        <p:spPr>
          <a:xfrm>
            <a:off x="4572000" y="2499852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cxnSp>
        <p:nvCxnSpPr>
          <p:cNvPr id="10" name="Összekötő: görbe 9">
            <a:extLst>
              <a:ext uri="{FF2B5EF4-FFF2-40B4-BE49-F238E27FC236}">
                <a16:creationId xmlns:a16="http://schemas.microsoft.com/office/drawing/2014/main" id="{A6969130-6A95-4834-E85C-01FA50E7175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018502" y="2932471"/>
            <a:ext cx="1553498" cy="9291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Összekötő: görbe 12">
            <a:extLst>
              <a:ext uri="{FF2B5EF4-FFF2-40B4-BE49-F238E27FC236}">
                <a16:creationId xmlns:a16="http://schemas.microsoft.com/office/drawing/2014/main" id="{07966FBF-87AB-59FC-5594-5009C4A03ED7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018502" y="3861619"/>
            <a:ext cx="1553498" cy="9291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églalap 10">
            <a:extLst>
              <a:ext uri="{FF2B5EF4-FFF2-40B4-BE49-F238E27FC236}">
                <a16:creationId xmlns:a16="http://schemas.microsoft.com/office/drawing/2014/main" id="{547624AB-2F47-8D52-C6F9-B67ABA7824B8}"/>
              </a:ext>
            </a:extLst>
          </p:cNvPr>
          <p:cNvSpPr/>
          <p:nvPr/>
        </p:nvSpPr>
        <p:spPr>
          <a:xfrm>
            <a:off x="565355" y="329381"/>
            <a:ext cx="2113935" cy="4965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9B1409FF-D3CC-911D-D736-84E61563C118}"/>
              </a:ext>
            </a:extLst>
          </p:cNvPr>
          <p:cNvSpPr/>
          <p:nvPr/>
        </p:nvSpPr>
        <p:spPr>
          <a:xfrm>
            <a:off x="565355" y="825910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hu-HU" sz="1400" b="1" dirty="0" err="1"/>
              <a:t>string</a:t>
            </a:r>
            <a:r>
              <a:rPr lang="hu-HU" sz="1400" b="1" dirty="0"/>
              <a:t> </a:t>
            </a:r>
            <a:r>
              <a:rPr lang="hu-HU" sz="1400" b="1" dirty="0" err="1"/>
              <a:t>type</a:t>
            </a:r>
            <a:endParaRPr lang="hu-HU" sz="1400" b="1" dirty="0"/>
          </a:p>
          <a:p>
            <a:pPr marL="285750" indent="-285750">
              <a:buFontTx/>
              <a:buChar char="-"/>
            </a:pPr>
            <a:r>
              <a:rPr lang="hu-HU" sz="1400" b="1" dirty="0" err="1"/>
              <a:t>string</a:t>
            </a:r>
            <a:r>
              <a:rPr lang="hu-HU" sz="1400" b="1" dirty="0"/>
              <a:t> </a:t>
            </a:r>
            <a:r>
              <a:rPr lang="hu-HU" sz="1400" b="1" dirty="0" err="1"/>
              <a:t>getArea</a:t>
            </a:r>
            <a:r>
              <a:rPr lang="hu-HU" sz="1400" b="1" dirty="0"/>
              <a:t>()</a:t>
            </a:r>
          </a:p>
          <a:p>
            <a:pPr marL="285750" indent="-285750">
              <a:buFontTx/>
              <a:buChar char="-"/>
            </a:pPr>
            <a:r>
              <a:rPr lang="hu-HU" sz="1400" b="1" dirty="0"/>
              <a:t>…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904FDA20-17D3-7453-CDEE-41FAED815D9D}"/>
              </a:ext>
            </a:extLst>
          </p:cNvPr>
          <p:cNvSpPr/>
          <p:nvPr/>
        </p:nvSpPr>
        <p:spPr>
          <a:xfrm>
            <a:off x="1074174" y="5302042"/>
            <a:ext cx="1828798" cy="8652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Derived_A</a:t>
            </a:r>
            <a:r>
              <a:rPr lang="hu-HU" b="1" dirty="0"/>
              <a:t> *</a:t>
            </a:r>
          </a:p>
        </p:txBody>
      </p:sp>
      <p:sp>
        <p:nvSpPr>
          <p:cNvPr id="17" name="Nyíl: szaggatott, jobbra mutató 16">
            <a:extLst>
              <a:ext uri="{FF2B5EF4-FFF2-40B4-BE49-F238E27FC236}">
                <a16:creationId xmlns:a16="http://schemas.microsoft.com/office/drawing/2014/main" id="{0FB07780-CB18-C3A2-C7EC-EC5F6FEE8DD6}"/>
              </a:ext>
            </a:extLst>
          </p:cNvPr>
          <p:cNvSpPr/>
          <p:nvPr/>
        </p:nvSpPr>
        <p:spPr>
          <a:xfrm rot="5400000">
            <a:off x="1998405" y="4643284"/>
            <a:ext cx="865238" cy="294966"/>
          </a:xfrm>
          <a:prstGeom prst="strip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DBA9A338-7226-D9E6-F8CC-68A8DBCC78F9}"/>
              </a:ext>
            </a:extLst>
          </p:cNvPr>
          <p:cNvSpPr/>
          <p:nvPr/>
        </p:nvSpPr>
        <p:spPr>
          <a:xfrm>
            <a:off x="4571999" y="4294238"/>
            <a:ext cx="5889523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                                    </a:t>
            </a:r>
            <a:r>
              <a:rPr lang="hu-HU" b="1" dirty="0" err="1"/>
              <a:t>Derived_C</a:t>
            </a:r>
            <a:endParaRPr lang="hu-HU" b="1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39E6527D-D14B-C1DB-80F7-6306F4BB9E19}"/>
              </a:ext>
            </a:extLst>
          </p:cNvPr>
          <p:cNvSpPr/>
          <p:nvPr/>
        </p:nvSpPr>
        <p:spPr>
          <a:xfrm>
            <a:off x="4572000" y="4358148"/>
            <a:ext cx="2113935" cy="8652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 err="1"/>
              <a:t>Base</a:t>
            </a:r>
            <a:endParaRPr lang="hu-HU" sz="2000" b="1" dirty="0"/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7B151062-057C-1F54-DC84-103676845F59}"/>
              </a:ext>
            </a:extLst>
          </p:cNvPr>
          <p:cNvSpPr/>
          <p:nvPr/>
        </p:nvSpPr>
        <p:spPr>
          <a:xfrm>
            <a:off x="3311013" y="5773989"/>
            <a:ext cx="1828798" cy="8652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Derived_B</a:t>
            </a:r>
            <a:r>
              <a:rPr lang="hu-HU" b="1" dirty="0"/>
              <a:t> *</a:t>
            </a:r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170A7D3C-EA73-46F3-F131-44E61EDFBF3E}"/>
              </a:ext>
            </a:extLst>
          </p:cNvPr>
          <p:cNvSpPr/>
          <p:nvPr/>
        </p:nvSpPr>
        <p:spPr>
          <a:xfrm>
            <a:off x="5948515" y="5862481"/>
            <a:ext cx="1828798" cy="8652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/>
              <a:t>Derived_C</a:t>
            </a:r>
            <a:r>
              <a:rPr lang="hu-HU" b="1" dirty="0"/>
              <a:t> *</a:t>
            </a:r>
          </a:p>
        </p:txBody>
      </p:sp>
      <p:cxnSp>
        <p:nvCxnSpPr>
          <p:cNvPr id="27" name="Összekötő: görbe 26">
            <a:extLst>
              <a:ext uri="{FF2B5EF4-FFF2-40B4-BE49-F238E27FC236}">
                <a16:creationId xmlns:a16="http://schemas.microsoft.com/office/drawing/2014/main" id="{E7C41330-E8B4-4211-1295-6FC8D8A23A17}"/>
              </a:ext>
            </a:extLst>
          </p:cNvPr>
          <p:cNvCxnSpPr>
            <a:cxnSpLocks/>
            <a:stCxn id="23" idx="3"/>
            <a:endCxn id="8" idx="2"/>
          </p:cNvCxnSpPr>
          <p:nvPr/>
        </p:nvCxnSpPr>
        <p:spPr>
          <a:xfrm flipH="1" flipV="1">
            <a:off x="7516761" y="5287296"/>
            <a:ext cx="260552" cy="1007804"/>
          </a:xfrm>
          <a:prstGeom prst="curvedConnector4">
            <a:avLst>
              <a:gd name="adj1" fmla="val -87737"/>
              <a:gd name="adj2" fmla="val 71463"/>
            </a:avLst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Nyíl: szaggatott, jobbra mutató 29">
            <a:extLst>
              <a:ext uri="{FF2B5EF4-FFF2-40B4-BE49-F238E27FC236}">
                <a16:creationId xmlns:a16="http://schemas.microsoft.com/office/drawing/2014/main" id="{FDA80892-2515-4283-CAC8-573E84372615}"/>
              </a:ext>
            </a:extLst>
          </p:cNvPr>
          <p:cNvSpPr/>
          <p:nvPr/>
        </p:nvSpPr>
        <p:spPr>
          <a:xfrm rot="3452992">
            <a:off x="2400677" y="4857505"/>
            <a:ext cx="1421235" cy="294966"/>
          </a:xfrm>
          <a:prstGeom prst="strip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Nyíl: szaggatott, jobbra mutató 30">
            <a:extLst>
              <a:ext uri="{FF2B5EF4-FFF2-40B4-BE49-F238E27FC236}">
                <a16:creationId xmlns:a16="http://schemas.microsoft.com/office/drawing/2014/main" id="{5C1F5404-4DEF-3077-EAA9-4D18343D8823}"/>
              </a:ext>
            </a:extLst>
          </p:cNvPr>
          <p:cNvSpPr/>
          <p:nvPr/>
        </p:nvSpPr>
        <p:spPr>
          <a:xfrm rot="1539602">
            <a:off x="2865471" y="4904439"/>
            <a:ext cx="3295148" cy="294966"/>
          </a:xfrm>
          <a:prstGeom prst="strip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626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97</Words>
  <Application>Microsoft Office PowerPoint</Application>
  <PresentationFormat>Szélesvásznú</PresentationFormat>
  <Paragraphs>37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Office-téma</vt:lpstr>
      <vt:lpstr>C++ pointers with base and derived classes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Attila Juhász-Nagy</dc:creator>
  <cp:lastModifiedBy>Attila Juhász-Nagy</cp:lastModifiedBy>
  <cp:revision>3</cp:revision>
  <dcterms:created xsi:type="dcterms:W3CDTF">2025-12-24T00:52:52Z</dcterms:created>
  <dcterms:modified xsi:type="dcterms:W3CDTF">2025-12-24T02:47:54Z</dcterms:modified>
</cp:coreProperties>
</file>